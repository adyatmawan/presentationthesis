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00D4FF"/>
                </a:solidFill>
                <a:latin typeface="Calibri"/>
              </a:rPr>
              <a:t>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JAM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4A3B8"/>
                </a:solidFill>
                <a:latin typeface="Calibri"/>
              </a:rPr>
              <a:t>Setiap detik berarti setelah gempa bumi.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Bagaimana kita menilai kerusakan ribuan bangunan
dalam 72 jam — tanpa mengorbankan tim penyelamat?</a:t>
            </a:r>
          </a:p>
        </p:txBody>
      </p:sp>
      <p:pic>
        <p:nvPicPr>
          <p:cNvPr id="8" name="Picture 7" descr="MiuraTar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457200"/>
            <a:ext cx="512064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Calibri"/>
              </a:rPr>
              <a:t>CMF-BDANet — Cross-Modal Attention Fusion of DSM and RGB Data for Building Damage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Adyatma Wijaksara Aryaputra Nugraha Yudha  |  Magister Ilmu Komputer, Universitas Indonesia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Bahasa Kerusakan: EMS-98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Skala 5 tingkat kerusakan — Grades 1–5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2194560" cy="2286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Grade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Retak rambut — bangunan struktural masih utuh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463040"/>
            <a:ext cx="2194560" cy="228600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4630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Grade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1168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Kerusakan ringan — retakan, plester jatuh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463040"/>
            <a:ext cx="219456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4630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Grade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01168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Kerusakan sedang — retakan struktural besar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463040"/>
            <a:ext cx="2194560" cy="2286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4630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Grade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01168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Kerusakan berat — dinding runtuh sebagian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1463040"/>
            <a:ext cx="2194560" cy="2286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4630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Grade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01168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Kehancuran total — pancake collapse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3794760"/>
            <a:ext cx="4389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86791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⚠ Zona Ambiguitas — tantangan utama</a:t>
            </a:r>
          </a:p>
        </p:txBody>
      </p:sp>
      <p:pic>
        <p:nvPicPr>
          <p:cNvPr id="21" name="Picture 20" descr="DamageAssessement_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343400"/>
            <a:ext cx="7315200" cy="21031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863840" y="4023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Distribusi Kelas Dataset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4343400"/>
            <a:ext cx="757776" cy="32918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7336" y="4343400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G1  14.36%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4727448"/>
            <a:ext cx="2765145" cy="329184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74705" y="472744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G2  52.4%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5111496"/>
            <a:ext cx="931917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41477" y="511149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G3  17.66%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5495544"/>
            <a:ext cx="486538" cy="32918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6098" y="549554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G4  9.22%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5879592"/>
            <a:ext cx="334033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3593" y="5879592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G5  6.33%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Mengapa Pendekatan Ada Tidak Cukup?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Setiap modalitas punya kelemahan fatal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3566160" cy="36576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566160" cy="7315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4A3B8"/>
                </a:solidFill>
                <a:latin typeface="Calibri"/>
              </a:rPr>
              <a:t>🗺 Manual Inspeksi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Lambat (hari–minggu)
• Berbahaya (gempa susulan)
• Tidak skalabel untuk kota besar
• Inkonsisten antar inspektor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417320"/>
            <a:ext cx="3566160" cy="36576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1417320"/>
            <a:ext cx="356616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508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Calibri"/>
              </a:rPr>
              <a:t>📷 RGB Saja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01168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Cakupan luas ✓
• Proyeksi 2D — buta vertikal
• Lantai pancake = atap terlihat utuh
• Terpal biru → salah klasifikasi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417320"/>
            <a:ext cx="3566160" cy="36576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417320"/>
            <a:ext cx="35661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508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Calibri"/>
              </a:rPr>
              <a:t>📡 LiDAR / DSM Saja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01168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Perubahan elevasi langsung ✓
• Terpal biru = elevasi 'atap utuh'
• Soft-story collapse = hampir nol Δz
• Tidak ada info tekstur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257800"/>
            <a:ext cx="11430000" cy="82296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32180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D4FF"/>
                </a:solidFill>
                <a:latin typeface="Calibri"/>
              </a:rPr>
              <a:t>✦  Tidak ada modalitas tunggal yang cukup. Kelemahan RGB dan DSM saling melengkapi → fusi cerdas adalah jawabannya.</a:t>
            </a:r>
          </a:p>
        </p:txBody>
      </p:sp>
      <p:pic>
        <p:nvPicPr>
          <p:cNvPr id="18" name="Picture 17" descr="MiuraTar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657600"/>
            <a:ext cx="3931920" cy="1371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63840" y="50292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  <a:latin typeface="Calibri"/>
              </a:rPr>
              <a:t>Terpal biru → DSM baca 'atap utuh'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Celah Penelitian dan Tujuan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Tidak ada metode prior yang menggunakan adaptive multi-level gating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146304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Calibri"/>
              </a:rPr>
              <a:t>"Bagaimana kinerja model CMF-BDANet dalam mengklasifikasikan tingkat kerusakan bangunan berdasarkan skala EMS-98, dibandingkan dengan metode baseline?"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63240"/>
            <a:ext cx="5303520" cy="219456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53035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154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H1₁ — Superioritas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39312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CMF-BDANet mengklasifikasikan kerusakan bangunan lebih akurat dan stabil dibandingkan semua baseline, ditunjukkan oleh peningkatan Macro-F1 dan MCC.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063240"/>
            <a:ext cx="5303520" cy="219456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063240"/>
            <a:ext cx="530352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3154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H1₂ — Kontribusi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639312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Integrasi DSM+RGB melalui mekanisme MCMAF memberikan peningkatan performa yang signifikan dibandingkan varian tanpa multimodal dan/atau tanpa attention.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Gap: Tidak ada metode prior yang secara sistematis mengevaluasi kontribusi multi-level cross-modal attention fusion untuk semua 5 kelas EMS-98, dengan ablasi kuantitatif dan pengujian statistik.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Dataset: Gempa Kumamoto 2016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17.805 bangunan berlabel EMS-98, tervalidasi survei lapangan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2560320" cy="128016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  <a:latin typeface="Calibri"/>
              </a:rPr>
              <a:t>17,805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Bangunan berlabel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463040"/>
            <a:ext cx="2560320" cy="128016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5087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  <a:latin typeface="Calibri"/>
              </a:rPr>
              <a:t>Mw 7.0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Magnitude gempa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463040"/>
            <a:ext cx="2560320" cy="128016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5087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C3AED"/>
                </a:solidFill>
                <a:latin typeface="Calibri"/>
              </a:rPr>
              <a:t>0.5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Resolusi DSM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1463040"/>
            <a:ext cx="2560320" cy="128016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5087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C55E"/>
                </a:solidFill>
                <a:latin typeface="Calibri"/>
              </a:rPr>
              <a:t>70/15/15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Split train/val/test</a:t>
            </a:r>
          </a:p>
        </p:txBody>
      </p:sp>
      <p:pic>
        <p:nvPicPr>
          <p:cNvPr id="16" name="Picture 15" descr="orto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880360"/>
            <a:ext cx="3474720" cy="274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5760" y="5669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Orthophoto RGB</a:t>
            </a:r>
          </a:p>
        </p:txBody>
      </p:sp>
      <p:pic>
        <p:nvPicPr>
          <p:cNvPr id="18" name="Picture 17" descr="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2880360"/>
            <a:ext cx="3474720" cy="2743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977640" y="5669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LiDAR Point Cloud</a:t>
            </a:r>
          </a:p>
        </p:txBody>
      </p:sp>
      <p:pic>
        <p:nvPicPr>
          <p:cNvPr id="20" name="Picture 19" descr="shape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880360"/>
            <a:ext cx="347472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589520" y="5669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Building Footprints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1417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Distribusi Kelas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89920" y="1783080"/>
            <a:ext cx="182880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18520" y="17830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G1 14.36%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789920" y="2185416"/>
            <a:ext cx="182880" cy="27432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18520" y="218541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G2 52.40%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89920" y="2587752"/>
            <a:ext cx="18288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18520" y="25877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G3 17.66%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89920" y="2990088"/>
            <a:ext cx="182880" cy="274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18520" y="29900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G4  9.22%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89920" y="3392424"/>
            <a:ext cx="18288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18520" y="339242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G5  6.33%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Dari Point Cloud ke 12-Kanal Feature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Setiap kanal mengkodekan aspek spesifik perubahan struktural</a:t>
            </a:r>
          </a:p>
        </p:txBody>
      </p:sp>
      <p:pic>
        <p:nvPicPr>
          <p:cNvPr id="4" name="Picture 3" descr="Pre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6400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12 Kanal Aktif per Building Patch (16×16 px)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920240"/>
            <a:ext cx="1024128" cy="822960"/>
          </a:xfrm>
          <a:prstGeom prst="rect">
            <a:avLst/>
          </a:prstGeom>
          <a:solidFill>
            <a:srgbClr val="105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993392"/>
            <a:ext cx="1024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RGB Pre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395728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×3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2168" y="1920240"/>
            <a:ext cx="1024128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8" y="1993392"/>
            <a:ext cx="1024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RGB 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2168" y="2395728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×3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72016" y="1920240"/>
            <a:ext cx="1024128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72016" y="1993392"/>
            <a:ext cx="1024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nDSM Pre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2016" y="2395728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×1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41864" y="1920240"/>
            <a:ext cx="1024128" cy="8229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41864" y="1993392"/>
            <a:ext cx="1024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nDSM 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41864" y="2395728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×1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2788920"/>
            <a:ext cx="1024128" cy="82296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862072"/>
            <a:ext cx="1024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ρ Pre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264408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×1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02168" y="2788920"/>
            <a:ext cx="1024128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8" y="2862072"/>
            <a:ext cx="1024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σz Pre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3264408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×1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72016" y="2788920"/>
            <a:ext cx="1024128" cy="822960"/>
          </a:xfrm>
          <a:prstGeom prst="rect">
            <a:avLst/>
          </a:prstGeom>
          <a:solidFill>
            <a:srgbClr val="B45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2016" y="2862072"/>
            <a:ext cx="1024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ρ 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3264408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×1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41864" y="2788920"/>
            <a:ext cx="1024128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41864" y="2862072"/>
            <a:ext cx="1024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σz 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41864" y="3264408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×1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9840" y="1920240"/>
            <a:ext cx="1069848" cy="1783080"/>
          </a:xfrm>
          <a:prstGeom prst="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0" y="3749039"/>
            <a:ext cx="10698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  <a:latin typeface="Calibri"/>
              </a:rPr>
              <a:t>Reliability
Channels
(novelty)</a:t>
            </a:r>
          </a:p>
        </p:txBody>
      </p:sp>
      <p:pic>
        <p:nvPicPr>
          <p:cNvPr id="32" name="Picture 31" descr="PC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389120"/>
            <a:ext cx="1600200" cy="1417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132320" y="58247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PC Pre-Gempa</a:t>
            </a:r>
          </a:p>
        </p:txBody>
      </p:sp>
      <p:pic>
        <p:nvPicPr>
          <p:cNvPr id="34" name="Picture 33" descr="PCAf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4389120"/>
            <a:ext cx="1600200" cy="1417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823960" y="58247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PC Post-Gempa</a:t>
            </a:r>
          </a:p>
        </p:txBody>
      </p:sp>
      <p:pic>
        <p:nvPicPr>
          <p:cNvPr id="36" name="Picture 35" descr="DSMBef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4389120"/>
            <a:ext cx="1600200" cy="1417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515600" y="58247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DSM Pre</a:t>
            </a:r>
          </a:p>
        </p:txBody>
      </p:sp>
      <p:pic>
        <p:nvPicPr>
          <p:cNvPr id="38" name="Picture 37" descr="DSMAf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07240" y="4389120"/>
            <a:ext cx="1600200" cy="14173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2207240" y="58247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DSM Post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Arsitektur CMF-BDANet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Tiga stream, multi-level cross-modal attention fusion</a:t>
            </a:r>
          </a:p>
        </p:txBody>
      </p:sp>
      <p:pic>
        <p:nvPicPr>
          <p:cNvPr id="4" name="Picture 3" descr="CMFBDA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772400" cy="5029200"/>
          </a:xfrm>
          <a:prstGeom prst="rect">
            <a:avLst/>
          </a:prstGeom>
        </p:spPr>
      </p:pic>
      <p:pic>
        <p:nvPicPr>
          <p:cNvPr id="5" name="Picture 4" descr="MCM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71600"/>
            <a:ext cx="365760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37947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Calibri"/>
              </a:rPr>
              <a:t>MCMAF: Adaptive Gating</a:t>
            </a:r>
          </a:p>
        </p:txBody>
      </p:sp>
      <p:pic>
        <p:nvPicPr>
          <p:cNvPr id="7" name="Picture 6" descr="ConvB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06240"/>
            <a:ext cx="3657600" cy="1920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61447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Calibri"/>
              </a:rPr>
              <a:t>FCSNN Conv Block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CMF-BDANet-v2: Varian Desain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Stream ke-4: Siamese RGB Encoder — change detection di ruang RGB</a:t>
            </a:r>
          </a:p>
        </p:txBody>
      </p:sp>
      <p:pic>
        <p:nvPicPr>
          <p:cNvPr id="4" name="Picture 3" descr="CMFBDANet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772400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21040" y="1371600"/>
            <a:ext cx="1645920" cy="502920"/>
          </a:xfrm>
          <a:prstGeom prst="rect">
            <a:avLst/>
          </a:prstGeom>
          <a:solidFill>
            <a:srgbClr val="0A1830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4192" y="1463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Komponen</a:t>
            </a:r>
          </a:p>
        </p:txBody>
      </p:sp>
      <p:sp>
        <p:nvSpPr>
          <p:cNvPr id="7" name="Rectangle 6"/>
          <p:cNvSpPr/>
          <p:nvPr/>
        </p:nvSpPr>
        <p:spPr>
          <a:xfrm>
            <a:off x="9966960" y="1371600"/>
            <a:ext cx="1097280" cy="502920"/>
          </a:xfrm>
          <a:prstGeom prst="rect">
            <a:avLst/>
          </a:prstGeom>
          <a:solidFill>
            <a:srgbClr val="0A1830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40112" y="14630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CMF-BDANet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64240" y="1371600"/>
            <a:ext cx="1371600" cy="502920"/>
          </a:xfrm>
          <a:prstGeom prst="rect">
            <a:avLst/>
          </a:prstGeom>
          <a:solidFill>
            <a:srgbClr val="0A1830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37392" y="146304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CMF-BDANet-v2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874520"/>
            <a:ext cx="1645920" cy="50292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9659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Siamese DSM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66960" y="1874520"/>
            <a:ext cx="1097280" cy="50292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0112" y="19659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  <a:latin typeface="Calibri"/>
              </a:rPr>
              <a:t>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64240" y="1874520"/>
            <a:ext cx="1371600" cy="50292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37392" y="19659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377440"/>
            <a:ext cx="1645920" cy="50292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24688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Siamese RGB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2377440"/>
            <a:ext cx="1097280" cy="50292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40112" y="24688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  <a:latin typeface="Calibri"/>
              </a:rPr>
              <a:t>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64240" y="2377440"/>
            <a:ext cx="1371600" cy="50292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37392" y="24688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2880360"/>
            <a:ext cx="1645920" cy="50292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29718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Early RGB-DSM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2880360"/>
            <a:ext cx="1097280" cy="50292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0112" y="297180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  <a:latin typeface="Calibri"/>
              </a:rPr>
              <a:t>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64240" y="2880360"/>
            <a:ext cx="1371600" cy="50292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37392" y="29718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3383280"/>
            <a:ext cx="1645920" cy="50292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34747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Total Params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66960" y="3383280"/>
            <a:ext cx="1097280" cy="50292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0112" y="34747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  <a:latin typeface="Calibri"/>
              </a:rPr>
              <a:t>~1,149K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064240" y="3383280"/>
            <a:ext cx="1371600" cy="50292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37392" y="34747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~1,177K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Desain Eksperimen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3 skenario, 4 baseline, 6 metrik, pengujian statistik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3474720" cy="201168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4747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Skenario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Biner Mudah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6771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Grade 1 vs Grade 5
(kontras ekstrem)</a:t>
            </a:r>
          </a:p>
        </p:txBody>
      </p:sp>
      <p:sp>
        <p:nvSpPr>
          <p:cNvPr id="9" name="Rectangle 8"/>
          <p:cNvSpPr/>
          <p:nvPr/>
        </p:nvSpPr>
        <p:spPr>
          <a:xfrm>
            <a:off x="3995928" y="1417320"/>
            <a:ext cx="3474720" cy="201168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95928" y="1417320"/>
            <a:ext cx="34747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Calibri"/>
              </a:rPr>
              <a:t>Skenario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8" y="1920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Biner Sulit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8" y="226771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Grade 1–4 vs Grade 5
(imbalance ekstrem: 6.33% positif)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6096" y="1417320"/>
            <a:ext cx="3474720" cy="201168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417320"/>
            <a:ext cx="347472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63256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  <a:latin typeface="Calibri"/>
              </a:rPr>
              <a:t>Skenario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63256" y="1920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5-Kelas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3256" y="226771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Klasifikasi penuh EMS-98
(paling realistis)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Baseline: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77639"/>
            <a:ext cx="2560320" cy="86868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233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FCSNN
(Ramadhan)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3977639"/>
            <a:ext cx="2560320" cy="86868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40233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FUJITA
(DSM-only)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3977639"/>
            <a:ext cx="2560320" cy="86868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40233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Hajeb
(SVM)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3977639"/>
            <a:ext cx="2560320" cy="86868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40233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Moya
(SVM)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Metrik Utama: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03520"/>
            <a:ext cx="1737360" cy="50292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3309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76272" y="5303520"/>
            <a:ext cx="1737360" cy="50292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76272" y="53309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86784" y="5303520"/>
            <a:ext cx="1737360" cy="50292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86784" y="53309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97296" y="5303520"/>
            <a:ext cx="1737360" cy="502920"/>
          </a:xfrm>
          <a:prstGeom prst="rect">
            <a:avLst/>
          </a:prstGeom>
          <a:solidFill>
            <a:srgbClr val="0A183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97296" y="53309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Calibri"/>
              </a:rPr>
              <a:t>Macro-F1 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07808" y="5303520"/>
            <a:ext cx="1737360" cy="502920"/>
          </a:xfrm>
          <a:prstGeom prst="rect">
            <a:avLst/>
          </a:prstGeom>
          <a:solidFill>
            <a:srgbClr val="0A183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53309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Calibri"/>
              </a:rPr>
              <a:t>MCC 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5303520"/>
            <a:ext cx="1737360" cy="502920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53309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normMCC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897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Uji signifikansi: McNemar (S1,S2) | McNemar-Bowker (S3)  |  α = 0.05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Hasil: Skenario 1 — Grade 1 vs Grade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CMF-BDANet unggul; semua model DL setara secara statistik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2560320" cy="411480"/>
          </a:xfrm>
          <a:prstGeom prst="rect">
            <a:avLst/>
          </a:prstGeom>
          <a:solidFill>
            <a:srgbClr val="0A1830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472184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417320"/>
            <a:ext cx="914400" cy="411480"/>
          </a:xfrm>
          <a:prstGeom prst="rect">
            <a:avLst/>
          </a:prstGeom>
          <a:solidFill>
            <a:srgbClr val="0A1830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9232" y="147218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F₁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417320"/>
            <a:ext cx="914400" cy="411480"/>
          </a:xfrm>
          <a:prstGeom prst="rect">
            <a:avLst/>
          </a:prstGeom>
          <a:solidFill>
            <a:srgbClr val="0A1830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13632" y="147218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MCC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417320"/>
            <a:ext cx="1645920" cy="411480"/>
          </a:xfrm>
          <a:prstGeom prst="rect">
            <a:avLst/>
          </a:prstGeom>
          <a:solidFill>
            <a:srgbClr val="0A1830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1472184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vs CMF-BDANet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28800"/>
            <a:ext cx="2560320" cy="411480"/>
          </a:xfrm>
          <a:prstGeom prst="rect">
            <a:avLst/>
          </a:prstGeom>
          <a:solidFill>
            <a:srgbClr val="0C223A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883664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CMF-BDANet 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1828800"/>
            <a:ext cx="914400" cy="411480"/>
          </a:xfrm>
          <a:prstGeom prst="rect">
            <a:avLst/>
          </a:prstGeom>
          <a:solidFill>
            <a:srgbClr val="0C223A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9232" y="188366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0.8563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828800"/>
            <a:ext cx="914400" cy="411480"/>
          </a:xfrm>
          <a:prstGeom prst="rect">
            <a:avLst/>
          </a:prstGeom>
          <a:solidFill>
            <a:srgbClr val="0C223A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2" y="188366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0.8974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828800"/>
            <a:ext cx="1645920" cy="411480"/>
          </a:xfrm>
          <a:prstGeom prst="rect">
            <a:avLst/>
          </a:prstGeom>
          <a:solidFill>
            <a:srgbClr val="0C223A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28032" y="1883664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240280"/>
            <a:ext cx="256032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2295144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CMF-BDANet-v2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240280"/>
            <a:ext cx="9144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9232" y="229514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0.8427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2240280"/>
            <a:ext cx="9144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13632" y="229514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0.8852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2240280"/>
            <a:ext cx="164592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032" y="2295144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p=0.901 n.s.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651760"/>
            <a:ext cx="256032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2706624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FUJITA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2651760"/>
            <a:ext cx="9144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9232" y="270662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0.8313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2651760"/>
            <a:ext cx="9144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13632" y="270662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0.8831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2651760"/>
            <a:ext cx="164592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28032" y="2706624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p=0.525 n.s.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63240"/>
            <a:ext cx="256032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3118104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FCSNN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3063240"/>
            <a:ext cx="9144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99232" y="311810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0.8199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3063240"/>
            <a:ext cx="9144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13632" y="311810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0.8682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3063240"/>
            <a:ext cx="164592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28032" y="3118104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p=0.068 n.s.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474720"/>
            <a:ext cx="256032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" y="3529584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Hajeb (SVM)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3474720"/>
            <a:ext cx="9144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99232" y="352958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0.6601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0" y="3474720"/>
            <a:ext cx="9144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13632" y="352958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0.7713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3474720"/>
            <a:ext cx="164592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28032" y="3529584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  <a:latin typeface="Calibri"/>
              </a:rPr>
              <a:t>p&lt;10⁻⁶ 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3886200"/>
            <a:ext cx="256032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912" y="3941064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Moya (SVM)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26080" y="3886200"/>
            <a:ext cx="9144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99232" y="394106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0.6380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0480" y="3886200"/>
            <a:ext cx="9144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13632" y="394106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0.7444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0" y="3886200"/>
            <a:ext cx="164592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28032" y="3941064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  <a:latin typeface="Calibri"/>
              </a:rPr>
              <a:t>p&lt;10⁻⁶ 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89320" y="1828800"/>
            <a:ext cx="73152" cy="1645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26480" y="24231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alibri"/>
              </a:rPr>
              <a:t>DL cluster
(setara statistik)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89320" y="3657600"/>
            <a:ext cx="73152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26480" y="38404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alibri"/>
              </a:rPr>
              <a:t>SVM
(sig. lebih rendah)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0960" y="1417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Confusion Matrices — Skenario 1</a:t>
            </a:r>
          </a:p>
        </p:txBody>
      </p:sp>
      <p:pic>
        <p:nvPicPr>
          <p:cNvPr id="65" name="Picture 64" descr="cm_ThreeStreamMM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828800"/>
            <a:ext cx="1920240" cy="173736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7680960" y="35844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CMF-BDANet</a:t>
            </a:r>
          </a:p>
        </p:txBody>
      </p:sp>
      <p:pic>
        <p:nvPicPr>
          <p:cNvPr id="67" name="Picture 66" descr="cm_FourStreamMM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1828800"/>
            <a:ext cx="1920240" cy="173736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9646920" y="35844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CMF-BDANet-v2</a:t>
            </a:r>
          </a:p>
        </p:txBody>
      </p:sp>
      <p:pic>
        <p:nvPicPr>
          <p:cNvPr id="69" name="Picture 68" descr="cm_FUJ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0" y="1828800"/>
            <a:ext cx="1920240" cy="173736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1612880" y="35844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FUJITA</a:t>
            </a:r>
          </a:p>
        </p:txBody>
      </p:sp>
      <p:pic>
        <p:nvPicPr>
          <p:cNvPr id="71" name="Picture 70" descr="cm_SN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3886200"/>
            <a:ext cx="1920240" cy="173736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7680960" y="56418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FCSNN</a:t>
            </a:r>
          </a:p>
        </p:txBody>
      </p:sp>
      <p:pic>
        <p:nvPicPr>
          <p:cNvPr id="73" name="Picture 72" descr="cm_Haje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0" y="3886200"/>
            <a:ext cx="1920240" cy="173736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9646920" y="56418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Hajeb</a:t>
            </a:r>
          </a:p>
        </p:txBody>
      </p:sp>
      <p:pic>
        <p:nvPicPr>
          <p:cNvPr id="75" name="Picture 74" descr="cm_Moy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12880" y="3886200"/>
            <a:ext cx="1920240" cy="173736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1612880" y="56418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Moya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5760" y="56692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Temuan: Saat kontras ekstrem (G1 vs G5), sinyal DSM saja sudah sangat diskriminatif → semua DL konvergen.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Hasil: Skenario 2 — Grade 1–4 vs Grade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Imbalance ekstrem: Grade 5 hanya 6.33%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2560320" cy="411480"/>
          </a:xfrm>
          <a:prstGeom prst="rect">
            <a:avLst/>
          </a:prstGeom>
          <a:solidFill>
            <a:srgbClr val="0A1830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472184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417320"/>
            <a:ext cx="914400" cy="411480"/>
          </a:xfrm>
          <a:prstGeom prst="rect">
            <a:avLst/>
          </a:prstGeom>
          <a:solidFill>
            <a:srgbClr val="0A1830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9232" y="147218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F₁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417320"/>
            <a:ext cx="914400" cy="411480"/>
          </a:xfrm>
          <a:prstGeom prst="rect">
            <a:avLst/>
          </a:prstGeom>
          <a:solidFill>
            <a:srgbClr val="0A1830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13632" y="147218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MCC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2560320" cy="411480"/>
          </a:xfrm>
          <a:prstGeom prst="rect">
            <a:avLst/>
          </a:prstGeom>
          <a:solidFill>
            <a:srgbClr val="0C223A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883664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FUJITA 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1828800"/>
            <a:ext cx="914400" cy="411480"/>
          </a:xfrm>
          <a:prstGeom prst="rect">
            <a:avLst/>
          </a:prstGeom>
          <a:solidFill>
            <a:srgbClr val="0C223A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188366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0.6202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1828800"/>
            <a:ext cx="914400" cy="411480"/>
          </a:xfrm>
          <a:prstGeom prst="rect">
            <a:avLst/>
          </a:prstGeom>
          <a:solidFill>
            <a:srgbClr val="0C223A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188366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0.8056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40280"/>
            <a:ext cx="256032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295144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CMF-BDANet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240280"/>
            <a:ext cx="9144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9232" y="229514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0.6190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2240280"/>
            <a:ext cx="9144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13632" y="229514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0.8029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651760"/>
            <a:ext cx="256032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2706624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CMF-BDANet-v2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2651760"/>
            <a:ext cx="9144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9232" y="270662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0.6154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2651760"/>
            <a:ext cx="9144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270662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0.8033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063240"/>
            <a:ext cx="256032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118104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FCSNN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3063240"/>
            <a:ext cx="9144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9232" y="311810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0.5532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3063240"/>
            <a:ext cx="9144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13632" y="311810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0.7712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474720"/>
            <a:ext cx="256032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3529584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Hajeb (SVM)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3474720"/>
            <a:ext cx="9144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9232" y="352958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0.4685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0" y="3474720"/>
            <a:ext cx="9144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13632" y="352958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0.7243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886200"/>
            <a:ext cx="256032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3941064"/>
            <a:ext cx="24688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Moya (SVM)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3886200"/>
            <a:ext cx="9144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99232" y="394106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0.4103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0" y="3886200"/>
            <a:ext cx="9144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13632" y="3941064"/>
            <a:ext cx="822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0.6942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663440"/>
            <a:ext cx="4297680" cy="1005840"/>
          </a:xfrm>
          <a:prstGeom prst="rect">
            <a:avLst/>
          </a:prstGeom>
          <a:solidFill>
            <a:srgbClr val="1E1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75488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⚡ CMF-BDANet-v2 vs FUJITA: χ²=0.000, p=1.000
Pola prediksi identik secara statistik!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141732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Confusion Matrices — Skenario 2</a:t>
            </a:r>
          </a:p>
        </p:txBody>
      </p:sp>
      <p:pic>
        <p:nvPicPr>
          <p:cNvPr id="49" name="Picture 48" descr="cm_ThreeStreamMM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2194560" cy="19202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754880" y="37673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CMF-BDANet</a:t>
            </a:r>
          </a:p>
        </p:txBody>
      </p:sp>
      <p:pic>
        <p:nvPicPr>
          <p:cNvPr id="51" name="Picture 50" descr="cm_FourStreamMM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1828800"/>
            <a:ext cx="2194560" cy="192024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022592" y="37673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CMF-BDANet-v2</a:t>
            </a:r>
          </a:p>
        </p:txBody>
      </p:sp>
      <p:pic>
        <p:nvPicPr>
          <p:cNvPr id="53" name="Picture 52" descr="cm_FUJ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1828800"/>
            <a:ext cx="2194560" cy="192024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290304" y="37673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FUJITA</a:t>
            </a:r>
          </a:p>
        </p:txBody>
      </p:sp>
      <p:pic>
        <p:nvPicPr>
          <p:cNvPr id="55" name="Picture 54" descr="cm_SN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096512"/>
            <a:ext cx="2194560" cy="19202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754880" y="6035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FCSNN</a:t>
            </a:r>
          </a:p>
        </p:txBody>
      </p:sp>
      <p:pic>
        <p:nvPicPr>
          <p:cNvPr id="57" name="Picture 56" descr="cm_Haje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92" y="4096512"/>
            <a:ext cx="2194560" cy="192024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022592" y="6035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Hajeb</a:t>
            </a:r>
          </a:p>
        </p:txBody>
      </p:sp>
      <p:pic>
        <p:nvPicPr>
          <p:cNvPr id="59" name="Picture 58" descr="cm_Moy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0304" y="4096512"/>
            <a:ext cx="2194560" cy="192024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290304" y="6035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Moya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57607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Imbalance ekstrem memaksa semua model DL konvergen. Keunggulan multimodal belum terlihat — menunggu Skenario 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Hasil: Skenario 3 — Uji Definitif 5 Kelas EMS-98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H1₁ dikonfirmasi — FUJITA kolaps pada Grade 3 &amp; 4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2286000" cy="411480"/>
          </a:xfrm>
          <a:prstGeom prst="rect">
            <a:avLst/>
          </a:prstGeom>
          <a:solidFill>
            <a:srgbClr val="0A1830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472184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417320"/>
            <a:ext cx="822960" cy="411480"/>
          </a:xfrm>
          <a:prstGeom prst="rect">
            <a:avLst/>
          </a:prstGeom>
          <a:solidFill>
            <a:srgbClr val="0A1830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24912" y="1472184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F₁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417320"/>
            <a:ext cx="822960" cy="411480"/>
          </a:xfrm>
          <a:prstGeom prst="rect">
            <a:avLst/>
          </a:prstGeom>
          <a:solidFill>
            <a:srgbClr val="0A1830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472184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MCC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1371600" cy="411480"/>
          </a:xfrm>
          <a:prstGeom prst="rect">
            <a:avLst/>
          </a:prstGeom>
          <a:solidFill>
            <a:srgbClr val="0A1830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472184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libri"/>
              </a:rPr>
              <a:t>vs CMF-BDANet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28800"/>
            <a:ext cx="2286000" cy="411480"/>
          </a:xfrm>
          <a:prstGeom prst="rect">
            <a:avLst/>
          </a:prstGeom>
          <a:solidFill>
            <a:srgbClr val="0C223A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883664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CMF-BDANet 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828800"/>
            <a:ext cx="822960" cy="411480"/>
          </a:xfrm>
          <a:prstGeom prst="rect">
            <a:avLst/>
          </a:prstGeom>
          <a:solidFill>
            <a:srgbClr val="0C223A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4912" y="1883664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0.5878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828800"/>
            <a:ext cx="822960" cy="411480"/>
          </a:xfrm>
          <a:prstGeom prst="rect">
            <a:avLst/>
          </a:prstGeom>
          <a:solidFill>
            <a:srgbClr val="0C223A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1883664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0.7305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1371600" cy="411480"/>
          </a:xfrm>
          <a:prstGeom prst="rect">
            <a:avLst/>
          </a:prstGeom>
          <a:solidFill>
            <a:srgbClr val="0C223A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2" y="1883664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240280"/>
            <a:ext cx="22860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2295144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CMF-BDANet-v2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2240280"/>
            <a:ext cx="82296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24912" y="2295144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0.5635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2240280"/>
            <a:ext cx="82296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47872" y="2295144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0.7132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240280"/>
            <a:ext cx="13716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2" y="2295144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n.s.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651760"/>
            <a:ext cx="22860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2706624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FCSNN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2651760"/>
            <a:ext cx="82296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24912" y="2706624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0.5247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2651760"/>
            <a:ext cx="82296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7872" y="2706624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0.6903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2651760"/>
            <a:ext cx="13716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2" y="2706624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  <a:latin typeface="Calibri"/>
              </a:rPr>
              <a:t>p=0.021 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63240"/>
            <a:ext cx="22860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3118104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FUJITA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3063240"/>
            <a:ext cx="82296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24912" y="3118104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0.4141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3063240"/>
            <a:ext cx="82296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47872" y="3118104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0.7018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3063240"/>
            <a:ext cx="13716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70832" y="3118104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  <a:latin typeface="Calibri"/>
              </a:rPr>
              <a:t>p≈0 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3474720"/>
            <a:ext cx="22860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" y="3529584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Hajeb (SVM)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1760" y="3474720"/>
            <a:ext cx="82296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24912" y="3529584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0.3975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0" y="3474720"/>
            <a:ext cx="82296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47872" y="3529584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0.6111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0" y="3474720"/>
            <a:ext cx="13716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70832" y="3529584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  <a:latin typeface="Calibri"/>
              </a:rPr>
              <a:t>p≈0 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3886200"/>
            <a:ext cx="22860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912" y="3941064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Moya (SVM)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51760" y="3886200"/>
            <a:ext cx="82296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24912" y="3941064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0.3097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74720" y="3886200"/>
            <a:ext cx="82296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47872" y="3941064"/>
            <a:ext cx="731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0.5710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97680" y="3886200"/>
            <a:ext cx="1371600" cy="41148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70832" y="3941064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  <a:latin typeface="Calibri"/>
              </a:rPr>
              <a:t>p≈0 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4617720"/>
            <a:ext cx="5120640" cy="1188720"/>
          </a:xfrm>
          <a:prstGeom prst="rect">
            <a:avLst/>
          </a:prstGeom>
          <a:solidFill>
            <a:srgbClr val="2D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47091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⚠ FUJITA F1 per kelas:
Grade 3 = 0.000  |  Grade 4 = 0.000
Tanpa RGB → tidak mampu bedakan kelas menengah!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5897880"/>
            <a:ext cx="5120640" cy="640080"/>
          </a:xfrm>
          <a:prstGeom prst="rect">
            <a:avLst/>
          </a:prstGeom>
          <a:solidFill>
            <a:srgbClr val="04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5989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  <a:latin typeface="Calibri"/>
              </a:rPr>
              <a:t>vs FCSNN: p=0.021 ✓   |   vs FUJITA: p≈0 ✓   →   H1₁ DIKONFIRMASI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0" y="1417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Confusion Matrices — Skenario 3</a:t>
            </a:r>
          </a:p>
        </p:txBody>
      </p:sp>
      <p:pic>
        <p:nvPicPr>
          <p:cNvPr id="65" name="Picture 64" descr="cm_ThreeStreamMM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2103120" cy="192024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486400" y="3767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CMF-BDANet</a:t>
            </a:r>
          </a:p>
        </p:txBody>
      </p:sp>
      <p:pic>
        <p:nvPicPr>
          <p:cNvPr id="67" name="Picture 66" descr="cm_FourStreamMM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4" y="1828800"/>
            <a:ext cx="2103120" cy="192024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7644384" y="3767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CMF-BDANet-v2</a:t>
            </a:r>
          </a:p>
        </p:txBody>
      </p:sp>
      <p:pic>
        <p:nvPicPr>
          <p:cNvPr id="69" name="Picture 68" descr="cm_FUJ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1828800"/>
            <a:ext cx="2103120" cy="192024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802368" y="3767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FUJITA</a:t>
            </a:r>
          </a:p>
        </p:txBody>
      </p:sp>
      <p:pic>
        <p:nvPicPr>
          <p:cNvPr id="71" name="Picture 70" descr="cm_SN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4096512"/>
            <a:ext cx="2103120" cy="192024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5486400" y="6035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FCSNN</a:t>
            </a:r>
          </a:p>
        </p:txBody>
      </p:sp>
      <p:pic>
        <p:nvPicPr>
          <p:cNvPr id="73" name="Picture 72" descr="cm_Haje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4384" y="4096512"/>
            <a:ext cx="2103120" cy="192024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644384" y="6035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Hajeb</a:t>
            </a:r>
          </a:p>
        </p:txBody>
      </p:sp>
      <p:pic>
        <p:nvPicPr>
          <p:cNvPr id="75" name="Picture 74" descr="cm_Moy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2368" y="4096512"/>
            <a:ext cx="2103120" cy="192024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802368" y="6035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Moya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Ablasi: Apa yang Mendorong Performa?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4 dimensi ablasi — setiap pilihan desain memiliki justifikasi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394960" cy="1874519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39496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💡  Kanal σz Kritis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Mode 'unc' menang di S2 &amp; S3
+uncertainty → lebih baik bedakan kerusakan halus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17320"/>
            <a:ext cx="5394960" cy="1874519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417320"/>
            <a:ext cx="53949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5087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⬆  MCMAF &gt; Concatenation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0116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+0.0092 F1 di S1 dari attention gating
Konsisten di semua skenario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29000"/>
            <a:ext cx="5394960" cy="1874519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429000"/>
            <a:ext cx="53949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204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📊  Multi-Level Wajib di 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233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Last-layer saja kehilangan hierarki spasial
L1+L2+L3 diperlukan untuk 5-kelas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429000"/>
            <a:ext cx="5394960" cy="1874519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3429000"/>
            <a:ext cx="5394960" cy="6400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35204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  <a:latin typeface="Calibri"/>
              </a:rPr>
              <a:t>⚠  Residual Koneksi ↓ FCSNN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40233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Res=True menurunkan performa FCSNN
Skip connections ganggu temporal change repr.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5321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Dua pilihan paling penting: kanal σ_z dan multi-level MCMAF → paling bertanggung jawab atas keunggulan S3.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Apa yang Dikatakan Bobot Atensi?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MCMAF bukan black box — bobotnya bermakna fisik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Bobot w_DSM per Kelas &amp;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35607"/>
            <a:ext cx="1645920" cy="438912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35607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alibr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435607"/>
            <a:ext cx="1280160" cy="438912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435607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alibri"/>
              </a:rPr>
              <a:t>Level 1 (low)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28416" y="1435607"/>
            <a:ext cx="1280160" cy="438912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8416" y="1435607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alibri"/>
              </a:rPr>
              <a:t>Level 2 (mid)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45152" y="1435607"/>
            <a:ext cx="1280160" cy="438912"/>
          </a:xfrm>
          <a:prstGeom prst="rect">
            <a:avLst/>
          </a:prstGeom>
          <a:solidFill>
            <a:srgbClr val="0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435607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alibri"/>
              </a:rPr>
              <a:t>Level 3 (high)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74519"/>
            <a:ext cx="1645920" cy="438912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874519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Grade 1 (Intact)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1874519"/>
            <a:ext cx="1280160" cy="4389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1874519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0.166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28416" y="1874519"/>
            <a:ext cx="1280160" cy="438912"/>
          </a:xfrm>
          <a:prstGeom prst="rect">
            <a:avLst/>
          </a:prstGeom>
          <a:solidFill>
            <a:srgbClr val="44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8416" y="1874519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0.500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45152" y="1874519"/>
            <a:ext cx="1280160" cy="438912"/>
          </a:xfrm>
          <a:prstGeom prst="rect">
            <a:avLst/>
          </a:prstGeom>
          <a:solidFill>
            <a:srgbClr val="44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1874519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0.550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340863"/>
            <a:ext cx="1645920" cy="438912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2340863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Grade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2340863"/>
            <a:ext cx="1280160" cy="4389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2340863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0.400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28416" y="2340863"/>
            <a:ext cx="1280160" cy="438912"/>
          </a:xfrm>
          <a:prstGeom prst="rect">
            <a:avLst/>
          </a:prstGeom>
          <a:solidFill>
            <a:srgbClr val="44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8416" y="2340863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0.500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45152" y="2340863"/>
            <a:ext cx="1280160" cy="438912"/>
          </a:xfrm>
          <a:prstGeom prst="rect">
            <a:avLst/>
          </a:prstGeom>
          <a:solidFill>
            <a:srgbClr val="44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2340863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0.500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807207"/>
            <a:ext cx="1645920" cy="438912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2807207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Grade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0" y="2807207"/>
            <a:ext cx="1280160" cy="438912"/>
          </a:xfrm>
          <a:prstGeom prst="rect">
            <a:avLst/>
          </a:prstGeom>
          <a:solidFill>
            <a:srgbClr val="44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1680" y="2807207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0.500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28416" y="2807207"/>
            <a:ext cx="1280160" cy="438912"/>
          </a:xfrm>
          <a:prstGeom prst="rect">
            <a:avLst/>
          </a:prstGeom>
          <a:solidFill>
            <a:srgbClr val="44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28416" y="2807207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0.500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45152" y="2807207"/>
            <a:ext cx="1280160" cy="438912"/>
          </a:xfrm>
          <a:prstGeom prst="rect">
            <a:avLst/>
          </a:prstGeom>
          <a:solidFill>
            <a:srgbClr val="44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5152" y="2807207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0.500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73551"/>
            <a:ext cx="1645920" cy="438912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3273551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Grade 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0" y="3273551"/>
            <a:ext cx="1280160" cy="438912"/>
          </a:xfrm>
          <a:prstGeom prst="rect">
            <a:avLst/>
          </a:prstGeom>
          <a:solidFill>
            <a:srgbClr val="44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11680" y="3273551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0.500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28416" y="3273551"/>
            <a:ext cx="1280160" cy="438912"/>
          </a:xfrm>
          <a:prstGeom prst="rect">
            <a:avLst/>
          </a:prstGeom>
          <a:solidFill>
            <a:srgbClr val="44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28416" y="3273551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0.500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45152" y="3273551"/>
            <a:ext cx="1280160" cy="438912"/>
          </a:xfrm>
          <a:prstGeom prst="rect">
            <a:avLst/>
          </a:prstGeom>
          <a:solidFill>
            <a:srgbClr val="44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45152" y="3273551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0.500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739895"/>
            <a:ext cx="1645920" cy="438912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3739895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Grade 5 (Collapse)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3739895"/>
            <a:ext cx="1280160" cy="4389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11680" y="3739895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0.657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28416" y="3739895"/>
            <a:ext cx="1280160" cy="43891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28416" y="3739895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0.909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45152" y="3739895"/>
            <a:ext cx="1280160" cy="4389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45152" y="3739895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0.450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43434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91C1C"/>
                </a:solidFill>
                <a:latin typeface="Calibri"/>
              </a:rPr>
              <a:t>■ DSM dominan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43434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055"/>
                </a:solidFill>
                <a:latin typeface="Calibri"/>
              </a:rPr>
              <a:t>■ Seimbang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1840" y="43434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4ED8"/>
                </a:solidFill>
                <a:latin typeface="Calibri"/>
              </a:rPr>
              <a:t>■ RGB dominan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14173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Studi Kasus Individual</a:t>
            </a:r>
          </a:p>
        </p:txBody>
      </p:sp>
      <p:pic>
        <p:nvPicPr>
          <p:cNvPr id="57" name="Picture 56" descr="s1_grade1_bid79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28800"/>
            <a:ext cx="2697480" cy="20116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035040" y="386791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Grade 1 — RGB dominan L1=0.961</a:t>
            </a:r>
          </a:p>
        </p:txBody>
      </p:sp>
      <p:pic>
        <p:nvPicPr>
          <p:cNvPr id="59" name="Picture 58" descr="s1_grade5_bid129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828800"/>
            <a:ext cx="2697480" cy="201168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823960" y="386791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Grade 5 — DSM dominan L2=0.997</a:t>
            </a:r>
          </a:p>
        </p:txBody>
      </p:sp>
      <p:pic>
        <p:nvPicPr>
          <p:cNvPr id="61" name="Picture 60" descr="s3_grade1_bid79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297680"/>
            <a:ext cx="2697480" cy="201168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035040" y="633679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S3: Grade 1 (RGB dom.)</a:t>
            </a:r>
          </a:p>
        </p:txBody>
      </p:sp>
      <p:pic>
        <p:nvPicPr>
          <p:cNvPr id="63" name="Picture 62" descr="s3_grade5_bid129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4297680"/>
            <a:ext cx="2697480" cy="201168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823960" y="633679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S3: Grade 5 (DSM dom.)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56692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59E0B"/>
                </a:solidFill>
                <a:latin typeface="Calibri"/>
              </a:rPr>
              <a:t>Grade 3 &amp; 4 ≈ 50/50 → ketidakpastian model mencerminkan ambiguitas EMS-98 itu sendiri.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Mengapa Rasterisasi DSM Adalah Representasi yang Tepat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RANSAC plane detection: hasil negatif yang memvalidasi pilihan desain</a:t>
            </a:r>
          </a:p>
        </p:txBody>
      </p:sp>
      <p:pic>
        <p:nvPicPr>
          <p:cNvPr id="4" name="Picture 3" descr="area_ratio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8580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806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Distribusi area_ratio (A_post/A_pre) per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417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Hasil RANSAC vs 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828800"/>
            <a:ext cx="2286000" cy="457200"/>
          </a:xfrm>
          <a:prstGeom prst="rect">
            <a:avLst/>
          </a:prstGeom>
          <a:solidFill>
            <a:srgbClr val="0A1830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2943" y="1883664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Metode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79" y="1828800"/>
            <a:ext cx="731520" cy="457200"/>
          </a:xfrm>
          <a:prstGeom prst="rect">
            <a:avLst/>
          </a:prstGeom>
          <a:solidFill>
            <a:srgbClr val="0A1830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8943" y="188366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S1 MCC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599" y="1828800"/>
            <a:ext cx="731520" cy="457200"/>
          </a:xfrm>
          <a:prstGeom prst="rect">
            <a:avLst/>
          </a:prstGeom>
          <a:solidFill>
            <a:srgbClr val="0A1830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70463" y="188366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S2 MCC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247119" y="1828800"/>
            <a:ext cx="731520" cy="457200"/>
          </a:xfrm>
          <a:prstGeom prst="rect">
            <a:avLst/>
          </a:prstGeom>
          <a:solidFill>
            <a:srgbClr val="0A1830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01983" y="188366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S3 MCC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2304288"/>
            <a:ext cx="2286000" cy="457200"/>
          </a:xfrm>
          <a:prstGeom prst="rect">
            <a:avLst/>
          </a:prstGeom>
          <a:solidFill>
            <a:srgbClr val="2D0808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52943" y="2359152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  <a:latin typeface="Calibri"/>
              </a:rPr>
              <a:t>RANSAC 1-Bidang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79" y="2304288"/>
            <a:ext cx="731520" cy="457200"/>
          </a:xfrm>
          <a:prstGeom prst="rect">
            <a:avLst/>
          </a:prstGeom>
          <a:solidFill>
            <a:srgbClr val="2D0808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38943" y="235915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  <a:latin typeface="Calibri"/>
              </a:rPr>
              <a:t>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599" y="2304288"/>
            <a:ext cx="731520" cy="457200"/>
          </a:xfrm>
          <a:prstGeom prst="rect">
            <a:avLst/>
          </a:prstGeom>
          <a:solidFill>
            <a:srgbClr val="2D0808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70463" y="235915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  <a:latin typeface="Calibri"/>
              </a:rPr>
              <a:t>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247119" y="2304288"/>
            <a:ext cx="731520" cy="457200"/>
          </a:xfrm>
          <a:prstGeom prst="rect">
            <a:avLst/>
          </a:prstGeom>
          <a:solidFill>
            <a:srgbClr val="2D0808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01983" y="235915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  <a:latin typeface="Calibri"/>
              </a:rPr>
              <a:t>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2779776"/>
            <a:ext cx="2286000" cy="457200"/>
          </a:xfrm>
          <a:prstGeom prst="rect">
            <a:avLst/>
          </a:prstGeom>
          <a:solidFill>
            <a:srgbClr val="2D0808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2943" y="283464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  <a:latin typeface="Calibri"/>
              </a:rPr>
              <a:t>RANSAC Multi-Bidang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79" y="2779776"/>
            <a:ext cx="731520" cy="457200"/>
          </a:xfrm>
          <a:prstGeom prst="rect">
            <a:avLst/>
          </a:prstGeom>
          <a:solidFill>
            <a:srgbClr val="2D0808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38943" y="283464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  <a:latin typeface="Calibri"/>
              </a:rPr>
              <a:t>−0.232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599" y="2779776"/>
            <a:ext cx="731520" cy="457200"/>
          </a:xfrm>
          <a:prstGeom prst="rect">
            <a:avLst/>
          </a:prstGeom>
          <a:solidFill>
            <a:srgbClr val="2D0808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70463" y="283464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  <a:latin typeface="Calibri"/>
              </a:rPr>
              <a:t>−0.082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247119" y="2779776"/>
            <a:ext cx="731520" cy="457200"/>
          </a:xfrm>
          <a:prstGeom prst="rect">
            <a:avLst/>
          </a:prstGeom>
          <a:solidFill>
            <a:srgbClr val="2D0808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01983" y="283464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  <a:latin typeface="Calibri"/>
              </a:rPr>
              <a:t>+0.002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3255264"/>
            <a:ext cx="2286000" cy="45720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2943" y="3310128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Hajeb SVM (referensi)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79" y="3255264"/>
            <a:ext cx="731520" cy="45720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38943" y="331012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+0.771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15599" y="3255264"/>
            <a:ext cx="731520" cy="45720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70463" y="331012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+0.724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247119" y="3255264"/>
            <a:ext cx="731520" cy="457200"/>
          </a:xfrm>
          <a:prstGeom prst="rect">
            <a:avLst/>
          </a:prstGeom>
          <a:solidFill>
            <a:srgbClr val="0F192E"/>
          </a:solidFill>
          <a:ln w="12700">
            <a:solidFill>
              <a:srgbClr val="1E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301983" y="331012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  <a:latin typeface="Calibri"/>
              </a:rPr>
              <a:t>+0.611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79" y="3931920"/>
            <a:ext cx="4389120" cy="1463040"/>
          </a:xfrm>
          <a:prstGeom prst="rect">
            <a:avLst/>
          </a:prstGeom>
          <a:solidFill>
            <a:srgbClr val="041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0" y="4005072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  <a:latin typeface="Calibri"/>
              </a:rPr>
              <a:t>✦ Semua nilai MCC RANSAC negatif
→ lebih buruk dari random classifier
Puing membentuk bidang planar → RANSAC tertipu
→ DSM rasterisasi (per sel) lebih stabil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4 Kontribusi Penelitian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Klaim yang spesifik, dapat diverifikasi, dan didukung hasil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394960" cy="201168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64008" cy="20116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27048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1. Arsitektur CMF-BDANet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074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Jaringan saraf 3-stream baru: Siamese DSM change encoding + RGB-DSM early fusion + MCMAF multi-level attention.
F1=0.5878 di S3, signifikan vs semua baseline (p≈0).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17320"/>
            <a:ext cx="5394960" cy="201168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417320"/>
            <a:ext cx="64008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27048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2. Pipeline 12-Kanal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011680"/>
            <a:ext cx="5074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Pipeline LiDAR-ke-raster dengan kanal reliabilitas σz dan ρ.
Kanal σz terbukti kritis untuk diskriminasi halus (S2 &amp; S3).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66160"/>
            <a:ext cx="5394960" cy="201168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64008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75888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3. Protokol Evaluasi EMS-98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60520"/>
            <a:ext cx="5074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3 skenario + 4 baseline + 6 metrik + NHST.
Kerangka evaluasi paling komprehensif untuk dataset ini.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566160"/>
            <a:ext cx="5394960" cy="201168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3566160"/>
            <a:ext cx="64008" cy="2011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675888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  <a:latin typeface="Calibri"/>
              </a:rPr>
              <a:t>4. Analisis Interpretabilitas MCMAF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160520"/>
            <a:ext cx="5074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Pertama: analisis distribusi bobot attention per kelas EMS-98 di multi-level.
Bobot bermakna fisik dan konsisten dengan sifat struktural tiap grade.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Arah Penelitian Selanjutnya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6 arah — Grade 3 &amp; 4 adalah frontier berikutnya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3566160" cy="1965960"/>
          </a:xfrm>
          <a:prstGeom prst="rect">
            <a:avLst/>
          </a:prstGeom>
          <a:solidFill>
            <a:srgbClr val="04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56616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2704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1. Fitur 3D Point Cloud Lebih Kaya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Normal vector, residual multi-skala, inlier ratio
→ melampaui area_ratio sederhana yang gagal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417320"/>
            <a:ext cx="3566160" cy="196596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52704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2. Penanganan Imbalance Kelas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0116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Focal loss, SMOTE pada kelas minoritas
Grade 5 hanya 6.33%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417320"/>
            <a:ext cx="3566160" cy="1965960"/>
          </a:xfrm>
          <a:prstGeom prst="rect">
            <a:avLst/>
          </a:prstGeom>
          <a:solidFill>
            <a:srgbClr val="04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417320"/>
            <a:ext cx="356616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52704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3. Generalisasi Cross-Dataset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0116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Validasi di Haiti 2010, Turki 2023
Sebelum deployment operasional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20440"/>
            <a:ext cx="3566160" cy="196596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3016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4. Arsitektur Multi-Scale (FPN)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Untuk bangunan besar yang subsampel pada 16×16
Feature Pyramid Network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3520440"/>
            <a:ext cx="3566160" cy="196596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363016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5. Modalitas Tambahan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1148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SAR (tembus awan), percentil tinggi LiDAR
Return intensity sebagai kanal baru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3520440"/>
            <a:ext cx="3566160" cy="1965960"/>
          </a:xfrm>
          <a:prstGeom prst="rect">
            <a:avLst/>
          </a:prstGeom>
          <a:solidFill>
            <a:srgbClr val="0F1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363016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6. Transfer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1148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Inisialisasi dari change detection pretraining
(LEVIR-CD) untuk dataset berlabel terbatas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760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  <a:latin typeface="Calibri"/>
              </a:rPr>
              <a:t>★ Prioritas tertinggi — dampak langsung pada Grade 3 &amp; 4 yang paling sulit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iuraTar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1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280160"/>
            <a:ext cx="94183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FFFFFF"/>
                </a:solidFill>
                <a:latin typeface="Calibri"/>
              </a:rPr>
              <a:t>"CMF-BDANet membuktikan bahwa fusi data multimodal melalui mekanisme attention yang adaptif
membuka dimensi baru dalam asesmen kerusakan bangunan —
tidak hanya bangunan mana yang rusak, tetapi seberapa parah, dan mengapa model bisa tahu perbedaannya."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337560"/>
            <a:ext cx="94183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3749039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D4FF"/>
                </a:solidFill>
                <a:latin typeface="Calibri"/>
              </a:rPr>
              <a:t>F1 = 0.5878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6177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Calibri"/>
              </a:rPr>
              <a:t>MCC = 0.7305  |  p≈0 vs FUJITA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0749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Skenario 3 — Klasifikasi 5-Kelas EMS-98 — Signifikan vs seluruh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62356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Pembimbing: Prof. Dr. Eng. Wisnu Jatmiko  |  Aprinaldi, Ph.D.Eng.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608076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Calibri"/>
              </a:rPr>
              <a:t>Tidak hanya bangunan mana — tetapi seberapa parah, dan mengapa.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